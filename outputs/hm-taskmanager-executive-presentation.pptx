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6ac5809a694692" /><Relationship Type="http://schemas.openxmlformats.org/officeDocument/2006/relationships/extended-properties" Target="/docProps/app.xml" Id="Rbcab4a59ce2a46b8" /><Relationship Type="http://schemas.openxmlformats.org/officeDocument/2006/relationships/officeDocument" Target="/ppt/presentation.xml" Id="R8d76cb4620f8402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ba266c2d564130"/>
  </p:sldMasterIdLst>
  <p:notesMasterIdLst>
    <p:notesMasterId xmlns:r="http://schemas.openxmlformats.org/officeDocument/2006/relationships" r:id="Rb5a6524404f14531"/>
  </p:notesMasterIdLst>
  <p:sldIdLst>
    <p:sldId xmlns:r="http://schemas.openxmlformats.org/officeDocument/2006/relationships" id="256" r:id="R7745ddd896c14ba9"/>
    <p:sldId xmlns:r="http://schemas.openxmlformats.org/officeDocument/2006/relationships" id="257" r:id="Rc964a89a2e014999"/>
    <p:sldId xmlns:r="http://schemas.openxmlformats.org/officeDocument/2006/relationships" id="258" r:id="R7d8d183926ae4c78"/>
    <p:sldId xmlns:r="http://schemas.openxmlformats.org/officeDocument/2006/relationships" id="259" r:id="R805247a616354f55"/>
    <p:sldId xmlns:r="http://schemas.openxmlformats.org/officeDocument/2006/relationships" id="260" r:id="R3c8c019f24d44e54"/>
    <p:sldId xmlns:r="http://schemas.openxmlformats.org/officeDocument/2006/relationships" id="261" r:id="R3b8e6dc2444a4b7c"/>
    <p:sldId xmlns:r="http://schemas.openxmlformats.org/officeDocument/2006/relationships" id="262" r:id="R8c81263fed5749de"/>
    <p:sldId xmlns:r="http://schemas.openxmlformats.org/officeDocument/2006/relationships" id="263" r:id="Rf696706cb7894d9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ab082c533e34d63" /><Relationship Type="http://schemas.openxmlformats.org/officeDocument/2006/relationships/slideMaster" Target="/ppt/slideMasters/slideMaster1.xml" Id="Rbdba266c2d564130" /><Relationship Type="http://schemas.openxmlformats.org/officeDocument/2006/relationships/notesMaster" Target="/ppt/notesMasters/notesMaster1.xml" Id="Rb5a6524404f14531" /><Relationship Type="http://schemas.openxmlformats.org/officeDocument/2006/relationships/presProps" Target="/ppt/presProps.xml" Id="R4f073c345b584a75" /><Relationship Type="http://schemas.openxmlformats.org/officeDocument/2006/relationships/tableStyles" Target="/ppt/tableStyles.xml" Id="R0e4220ff27424139" /><Relationship Type="http://schemas.openxmlformats.org/officeDocument/2006/relationships/slide" Target="/ppt/slides/slide1.xml" Id="R7745ddd896c14ba9" /><Relationship Type="http://schemas.openxmlformats.org/officeDocument/2006/relationships/slide" Target="/ppt/slides/slide2.xml" Id="Rc964a89a2e014999" /><Relationship Type="http://schemas.openxmlformats.org/officeDocument/2006/relationships/slide" Target="/ppt/slides/slide3.xml" Id="R7d8d183926ae4c78" /><Relationship Type="http://schemas.openxmlformats.org/officeDocument/2006/relationships/slide" Target="/ppt/slides/slide4.xml" Id="R805247a616354f55" /><Relationship Type="http://schemas.openxmlformats.org/officeDocument/2006/relationships/slide" Target="/ppt/slides/slide5.xml" Id="R3c8c019f24d44e54" /><Relationship Type="http://schemas.openxmlformats.org/officeDocument/2006/relationships/slide" Target="/ppt/slides/slide6.xml" Id="R3b8e6dc2444a4b7c" /><Relationship Type="http://schemas.openxmlformats.org/officeDocument/2006/relationships/slide" Target="/ppt/slides/slide7.xml" Id="R8c81263fed5749de" /><Relationship Type="http://schemas.openxmlformats.org/officeDocument/2006/relationships/slide" Target="/ppt/slides/slide8.xml" Id="Rf696706cb7894d9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1ea5cedd9b543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e2c229d127144be" /><Relationship Type="http://schemas.openxmlformats.org/officeDocument/2006/relationships/notesMaster" Target="/ppt/notesMasters/notesMaster1.xml" Id="Rc513818b6d994d0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e0d6ee30414f08" /><Relationship Type="http://schemas.openxmlformats.org/officeDocument/2006/relationships/notesMaster" Target="/ppt/notesMasters/notesMaster1.xml" Id="Re5945663520b4f4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0a4fcb20fd34352" /><Relationship Type="http://schemas.openxmlformats.org/officeDocument/2006/relationships/notesMaster" Target="/ppt/notesMasters/notesMaster1.xml" Id="R3ae485b42932419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51d8ab6422842e1" /><Relationship Type="http://schemas.openxmlformats.org/officeDocument/2006/relationships/notesMaster" Target="/ppt/notesMasters/notesMaster1.xml" Id="Rc37ef94cadd649f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de3427a2d2248b1" /><Relationship Type="http://schemas.openxmlformats.org/officeDocument/2006/relationships/notesMaster" Target="/ppt/notesMasters/notesMaster1.xml" Id="R89608689a3704ed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4851638f6fa4576" /><Relationship Type="http://schemas.openxmlformats.org/officeDocument/2006/relationships/notesMaster" Target="/ppt/notesMasters/notesMaster1.xml" Id="Rcc394abc78964ff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b3383624001465e" /><Relationship Type="http://schemas.openxmlformats.org/officeDocument/2006/relationships/notesMaster" Target="/ppt/notesMasters/notesMaster1.xml" Id="Rce3cf8b836f34a6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fef0cf578d14c80" /><Relationship Type="http://schemas.openxmlformats.org/officeDocument/2006/relationships/notesMaster" Target="/ppt/notesMasters/notesMaster1.xml" Id="R7da11fd5bbdd45e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ab6f452c9a4a7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f0e313831404071" /><Relationship Type="http://schemas.openxmlformats.org/officeDocument/2006/relationships/slideLayout" Target="/ppt/slideLayouts/slideLayout1.xml" Id="R1066c1ca9730404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66c1ca9730404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1a0cf7f605465a" /><Relationship Type="http://schemas.openxmlformats.org/officeDocument/2006/relationships/image" Target="/ppt/media/image.png" Id="R8ba54fd1d9064059" /><Relationship Type="http://schemas.openxmlformats.org/officeDocument/2006/relationships/notesSlide" Target="/ppt/notesSlides/notesSlide1.xml" Id="Rd7d08512f1f34f9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5748157ee14cf6" /><Relationship Type="http://schemas.openxmlformats.org/officeDocument/2006/relationships/notesSlide" Target="/ppt/notesSlides/notesSlide2.xml" Id="R1c8c0f03dc3d4d5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fb0f23af57435a" /><Relationship Type="http://schemas.openxmlformats.org/officeDocument/2006/relationships/image" Target="/ppt/media/image2.png" Id="Rddc9e70cc59d4250" /><Relationship Type="http://schemas.openxmlformats.org/officeDocument/2006/relationships/notesSlide" Target="/ppt/notesSlides/notesSlide3.xml" Id="R8d3504f233c94e8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78e1c798d449d2" /><Relationship Type="http://schemas.openxmlformats.org/officeDocument/2006/relationships/image" Target="/ppt/media/image3.png" Id="R7884fd1e32264dbe" /><Relationship Type="http://schemas.openxmlformats.org/officeDocument/2006/relationships/notesSlide" Target="/ppt/notesSlides/notesSlide4.xml" Id="R9622f05f44c943b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11ceb05b6f4944" /><Relationship Type="http://schemas.openxmlformats.org/officeDocument/2006/relationships/image" Target="/ppt/media/image4.png" Id="R2b998c9f6f624423" /><Relationship Type="http://schemas.openxmlformats.org/officeDocument/2006/relationships/image" Target="/ppt/media/image5.png" Id="Ra28224dcc56e4617" /><Relationship Type="http://schemas.openxmlformats.org/officeDocument/2006/relationships/notesSlide" Target="/ppt/notesSlides/notesSlide5.xml" Id="R0a4a2ef82ad04de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50dc0a00814d16" /><Relationship Type="http://schemas.openxmlformats.org/officeDocument/2006/relationships/image" Target="/ppt/media/image6.png" Id="R48c1d2f41c284c98" /><Relationship Type="http://schemas.openxmlformats.org/officeDocument/2006/relationships/notesSlide" Target="/ppt/notesSlides/notesSlide6.xml" Id="R41fe681bd4274d1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5d349638ee449a" /><Relationship Type="http://schemas.openxmlformats.org/officeDocument/2006/relationships/image" Target="/ppt/media/image7.png" Id="R3acc175e45cc4240" /><Relationship Type="http://schemas.openxmlformats.org/officeDocument/2006/relationships/image" Target="/ppt/media/image8.png" Id="R72d0d2db274d4173" /><Relationship Type="http://schemas.openxmlformats.org/officeDocument/2006/relationships/image" Target="/ppt/media/image9.png" Id="Rc89ae73ba9db4cae" /><Relationship Type="http://schemas.openxmlformats.org/officeDocument/2006/relationships/notesSlide" Target="/ppt/notesSlides/notesSlide7.xml" Id="R75238e8609fc41b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169bb9d2664d21" /><Relationship Type="http://schemas.openxmlformats.org/officeDocument/2006/relationships/notesSlide" Target="/ppt/notesSlides/notesSlide8.xml" Id="R8c7df92a58494c8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4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DAF3C9-C4F3-4630-999F-9D6482D9B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EC5FF"/>
                </a:solidFill>
              </a:defRPr>
            </a:pPr>
            <a:r>
              <a:rPr sz="1200" b="1">
                <a:solidFill>
                  <a:srgbClr val="9EC5FF"/>
                </a:solidFill>
              </a:rPr>
              <a:t>HM TASKMANAGER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A249E1-1D6D-4006-8BAE-DDFB92FCE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590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One operating view</a:t>
            </a:r>
          </a:p>
          <a:p xmlns:a="http://schemas.openxmlformats.org/drawingml/2006/main">
            <a:pPr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for every hotel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53C219-0E18-4557-A610-58F51245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9E7FA"/>
                </a:solidFill>
              </a:defRPr>
            </a:pPr>
            <a:r>
              <a:rPr sz="1650" b="0">
                <a:solidFill>
                  <a:srgbClr val="D9E7FA"/>
                </a:solidFill>
              </a:rPr>
              <a:t>Maintenance operations, company security, and management intelligence in one controlled workflow.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A544A0-5EFA-4C60-AB4D-7E40A992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428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6A0"/>
          </a:solidFill>
          <a:ln xmlns:a="http://schemas.openxmlformats.org/drawingml/2006/main" w="9525">
            <a:solidFill>
              <a:srgbClr val="16A6A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50E5C1-C054-4D01-A559-B76A14D1A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Executive briefing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8C8EBD-68CC-42F5-8899-5039580E4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9E7FA"/>
                </a:solidFill>
              </a:defRPr>
            </a:pPr>
            <a:r>
              <a:rPr sz="1200" b="0">
                <a:solidFill>
                  <a:srgbClr val="D9E7FA"/>
                </a:solidFill>
              </a:rPr>
              <a:t>Prepared for Canadian hotel leadership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a54fd1d9064059"/>
          <a:srcRect xmlns:a="http://schemas.openxmlformats.org/drawingml/2006/main" l="28237" t="0" r="2823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24750" y="609600"/>
            <a:ext cx="3714750" cy="5334000"/>
          </a:xfrm>
          <a:prstGeom xmlns:a="http://schemas.openxmlformats.org/drawingml/2006/main" prst="roundRect">
            <a:avLst>
              <a:gd name="adj" fmla="val 4103"/>
            </a:avLst>
          </a:prstGeom>
        </p:spPr>
      </p:pic>
    </p:spTree>
    <p:extLst>
      <p:ext uri="{BB962C8B-B14F-4D97-AF65-F5344CB8AC3E}">
        <p14:creationId xmlns:p14="http://schemas.microsoft.com/office/powerpoint/2010/main" val="6379974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1EFC5B-CF7D-42BD-8A28-F4EC7591C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F6FEB"/>
                </a:solidFill>
              </a:defRPr>
            </a:pPr>
            <a:r>
              <a:rPr sz="975" b="1">
                <a:solidFill>
                  <a:srgbClr val="1F6FEB"/>
                </a:solidFill>
              </a:rPr>
              <a:t>THE OPERATING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385E39-67D3-40B0-A36F-522164214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43E"/>
                </a:solidFill>
              </a:defRPr>
            </a:pPr>
            <a:r>
              <a:rPr sz="2625" b="1">
                <a:solidFill>
                  <a:srgbClr val="10243E"/>
                </a:solidFill>
              </a:rPr>
              <a:t>A single control plane across a multi-hotel portfolio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564A61-2339-4FB1-B080-96371E07A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B7F"/>
                </a:solidFill>
              </a:defRPr>
            </a:pPr>
            <a:r>
              <a:rPr sz="1350" b="0">
                <a:solidFill>
                  <a:srgbClr val="5B6B7F"/>
                </a:solidFill>
              </a:rPr>
              <a:t>HM TaskManager connects property context, work execution, and management visibility.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1F1723-F5F1-40FF-BF06-7C25DA698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14325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9525">
            <a:solidFill>
              <a:srgbClr val="10243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D168E4-6071-4C44-97D9-928C691ED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EC5FF"/>
                </a:solidFill>
              </a:defRPr>
            </a:pPr>
            <a:r>
              <a:rPr sz="1650" b="1">
                <a:solidFill>
                  <a:srgbClr val="9EC5F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D41573-1D20-4805-BC50-89F284E77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Hotel context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A552F5-C23B-4FF9-A128-5F0EA018C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9E7FA"/>
                </a:solidFill>
              </a:defRPr>
            </a:pPr>
            <a:r>
              <a:rPr sz="1425" b="0">
                <a:solidFill>
                  <a:srgbClr val="D9E7FA"/>
                </a:solidFill>
              </a:rPr>
              <a:t>Company, hotel, location, asset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30BFDC-5952-4EF0-B291-EEC8631BC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95500"/>
            <a:ext cx="314325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C70F53-E965-495C-A29C-849EDBB86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3812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6FEB"/>
                </a:solidFill>
              </a:defRPr>
            </a:pPr>
            <a:r>
              <a:rPr sz="1650" b="1">
                <a:solidFill>
                  <a:srgbClr val="1F6FEB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E93171-D2AD-42E1-B771-C6908275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8575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43E"/>
                </a:solidFill>
              </a:defRPr>
            </a:pPr>
            <a:r>
              <a:rPr sz="1875" b="1">
                <a:solidFill>
                  <a:srgbClr val="10243E"/>
                </a:solidFill>
              </a:rPr>
              <a:t>Operational flow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11FBB4-19F7-4818-9641-B5427FCA4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333750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B7F"/>
                </a:solidFill>
              </a:defRPr>
            </a:pPr>
            <a:r>
              <a:rPr sz="1425" b="0">
                <a:solidFill>
                  <a:srgbClr val="5B6B7F"/>
                </a:solidFill>
              </a:rPr>
              <a:t>Request → assign → execute → close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0273D0-F85F-4FAC-9BB9-469D1C76F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95500"/>
            <a:ext cx="314325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6A6A0"/>
          </a:solidFill>
          <a:ln xmlns:a="http://schemas.openxmlformats.org/drawingml/2006/main" w="9525">
            <a:solidFill>
              <a:srgbClr val="16A6A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FE2AC6-C2FF-47C5-BF07-3231BC028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3812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C5FFEF"/>
                </a:solidFill>
              </a:defRPr>
            </a:pPr>
            <a:r>
              <a:rPr sz="1650" b="1">
                <a:solidFill>
                  <a:srgbClr val="C5FFEF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101C1B-4793-42EE-8888-6B53F37D3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5750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Management intelligence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52ADA1-6C92-4E4B-8B76-1B4DC2643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638550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E0FFF7"/>
                </a:solidFill>
              </a:defRPr>
            </a:pPr>
            <a:r>
              <a:rPr sz="1425" b="0">
                <a:solidFill>
                  <a:srgbClr val="E0FFF7"/>
                </a:solidFill>
              </a:rPr>
              <a:t>Status, backlog, completion, asset coverage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1AE3A2-964F-416C-9652-7D06F4E45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B7F"/>
                </a:solidFill>
              </a:defRPr>
            </a:pPr>
            <a:r>
              <a:rPr sz="825" b="0">
                <a:solidFill>
                  <a:srgbClr val="5B6B7F"/>
                </a:solidFill>
              </a:rPr>
              <a:t>HM TaskManager  |  Executive overview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AF0C61-3EA9-49A7-89FC-DB11FF165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B6B7F"/>
                </a:solidFill>
              </a:defRPr>
            </a:pPr>
            <a:r>
              <a:rPr sz="825" b="1">
                <a:solidFill>
                  <a:srgbClr val="5B6B7F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501526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5EF7E6-BEBC-4B5D-8611-5A573563D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F6FEB"/>
                </a:solidFill>
              </a:defRPr>
            </a:pPr>
            <a:r>
              <a:rPr sz="975" b="1">
                <a:solidFill>
                  <a:srgbClr val="1F6FEB"/>
                </a:solidFill>
              </a:rPr>
              <a:t>LOGIN &amp; COMPANY CONTEXT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ED52F0-8EA9-4F39-A45F-B463E15A5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43E"/>
                </a:solidFill>
              </a:defRPr>
            </a:pPr>
            <a:r>
              <a:rPr sz="2625" b="1">
                <a:solidFill>
                  <a:srgbClr val="10243E"/>
                </a:solidFill>
              </a:rPr>
              <a:t>Security starts before the first work order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7F2844-A417-47CB-BF81-26DD12554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B7F"/>
                </a:solidFill>
              </a:defRPr>
            </a:pPr>
            <a:r>
              <a:rPr sz="1350" b="0">
                <a:solidFill>
                  <a:srgbClr val="5B6B7F"/>
                </a:solidFill>
              </a:rPr>
              <a:t>Users authenticate with their identity and select an authorized hotel context.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c9e70cc59d4250"/>
          <a:srcRect xmlns:a="http://schemas.openxmlformats.org/drawingml/2006/main" l="0" t="877" r="0" b="8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952625"/>
            <a:ext cx="542925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45CFF3-F0A9-408C-B3E4-923A371AD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52625"/>
            <a:ext cx="47625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F307D7-7FBA-4729-BFA2-D96B0CCAB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2860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43E"/>
                </a:solidFill>
              </a:defRPr>
            </a:pPr>
            <a:r>
              <a:rPr sz="1650" b="1">
                <a:solidFill>
                  <a:srgbClr val="10243E"/>
                </a:solidFill>
              </a:rPr>
              <a:t>What the control means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C1F23E-DFE3-48CA-94C4-FC35D9EE1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781300"/>
            <a:ext cx="38576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5253A"/>
                </a:solidFill>
              </a:defRPr>
            </a:pPr>
            <a:r>
              <a:rPr sz="1350" b="0">
                <a:solidFill>
                  <a:srgbClr val="15253A"/>
                </a:solidFill>
              </a:rPr>
              <a:t>• The session supplies the active company context</a:t>
            </a:r>
          </a:p>
          <a:p xmlns:a="http://schemas.openxmlformats.org/drawingml/2006/main">
            <a:pPr>
              <a:defRPr sz="1350" b="0">
                <a:solidFill>
                  <a:srgbClr val="15253A"/>
                </a:solidFill>
              </a:defRPr>
            </a:pPr>
            <a:r>
              <a:rPr sz="1350" b="0">
                <a:solidFill>
                  <a:srgbClr val="15253A"/>
                </a:solidFill>
              </a:rPr>
              <a:t>• The screen cannot override the authenticated company</a:t>
            </a:r>
          </a:p>
          <a:p xmlns:a="http://schemas.openxmlformats.org/drawingml/2006/main">
            <a:pPr>
              <a:defRPr sz="1350" b="0">
                <a:solidFill>
                  <a:srgbClr val="15253A"/>
                </a:solidFill>
              </a:defRPr>
            </a:pPr>
            <a:r>
              <a:rPr sz="1350" b="0">
                <a:solidFill>
                  <a:srgbClr val="15253A"/>
                </a:solidFill>
              </a:rPr>
              <a:t>• Permissions are evaluated from company + user + program assignments</a:t>
            </a:r>
          </a:p>
          <a:p xmlns:a="http://schemas.openxmlformats.org/drawingml/2006/main">
            <a:pPr>
              <a:defRPr sz="1350" b="0">
                <a:solidFill>
                  <a:srgbClr val="15253A"/>
                </a:solidFill>
              </a:defRPr>
            </a:pPr>
            <a:r>
              <a:rPr sz="1350" b="0">
                <a:solidFill>
                  <a:srgbClr val="15253A"/>
                </a:solidFill>
              </a:rPr>
              <a:t>• The same identity can support more than one hotel, where authorized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32B109-DEAE-4E10-9F96-D45CFE88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629150"/>
            <a:ext cx="1809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6FEB"/>
          </a:solidFill>
          <a:ln xmlns:a="http://schemas.openxmlformats.org/drawingml/2006/main" w="9525">
            <a:solidFill>
              <a:srgbClr val="1F6F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3D9351-7DE8-4AD6-8008-7B24338BB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676775"/>
            <a:ext cx="1809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Company-scoped session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3D6E74-E000-4A4F-BF30-A0AD19E40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629150"/>
            <a:ext cx="1524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6A0"/>
          </a:solidFill>
          <a:ln xmlns:a="http://schemas.openxmlformats.org/drawingml/2006/main" w="9525">
            <a:solidFill>
              <a:srgbClr val="16A6A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809621-E02E-4012-A86A-2372D62B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676775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Role-aware access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A7AB3F-261E-4577-919D-FB5191CCC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B7F"/>
                </a:solidFill>
              </a:defRPr>
            </a:pPr>
            <a:r>
              <a:rPr sz="825" b="0">
                <a:solidFill>
                  <a:srgbClr val="5B6B7F"/>
                </a:solidFill>
              </a:rPr>
              <a:t>HM TaskManager  |  Executive overview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82AD64-A72C-449F-96A5-387725219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B6B7F"/>
                </a:solidFill>
              </a:defRPr>
            </a:pPr>
            <a:r>
              <a:rPr sz="825" b="1">
                <a:solidFill>
                  <a:srgbClr val="5B6B7F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150741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22B542-00A2-416C-A11A-881F4C7EC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F6FEB"/>
                </a:solidFill>
              </a:defRPr>
            </a:pPr>
            <a:r>
              <a:rPr sz="975" b="1">
                <a:solidFill>
                  <a:srgbClr val="1F6FEB"/>
                </a:solidFill>
              </a:rPr>
              <a:t>MULTI-HOTEL GOVERNANCE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1DAFD8-973B-424F-8B94-E929A1657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43E"/>
                </a:solidFill>
              </a:defRPr>
            </a:pPr>
            <a:r>
              <a:rPr sz="2625" b="1">
                <a:solidFill>
                  <a:srgbClr val="10243E"/>
                </a:solidFill>
              </a:rPr>
              <a:t>The portfolio stays connected without mixing hotel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B1592C-979D-4DB3-8862-3D03AC806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B7F"/>
                </a:solidFill>
              </a:defRPr>
            </a:pPr>
            <a:r>
              <a:rPr sz="1350" b="0">
                <a:solidFill>
                  <a:srgbClr val="5B6B7F"/>
                </a:solidFill>
              </a:rPr>
              <a:t>A tenant-aware backend keeps company boundaries explicit in every request.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84fd1e32264dbe"/>
          <a:stretch xmlns:a="http://schemas.openxmlformats.org/drawingml/2006/main"/>
        </p:blipFill>
        <p:spPr>
          <a:xfrm xmlns:a="http://schemas.openxmlformats.org/drawingml/2006/main">
            <a:off x="840764" y="1809750"/>
            <a:ext cx="6452823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1190A7-4807-40FA-877D-F3AF9B94D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00250"/>
            <a:ext cx="34290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60A128-CAC8-49D2-A25B-9F5CEA4F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431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43E"/>
                </a:solidFill>
              </a:defRPr>
            </a:pPr>
            <a:r>
              <a:rPr sz="1650" b="1">
                <a:solidFill>
                  <a:srgbClr val="10243E"/>
                </a:solidFill>
              </a:rPr>
              <a:t>Executive implication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2AC718-6A0A-4FEE-BCDB-24AC097DD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57500"/>
            <a:ext cx="276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5253A"/>
                </a:solidFill>
              </a:defRPr>
            </a:pPr>
            <a:r>
              <a:rPr sz="1500" b="0">
                <a:solidFill>
                  <a:srgbClr val="15253A"/>
                </a:solidFill>
              </a:rPr>
              <a:t>A regional or corporate team can standardize the operating model while each hotel sees only its authorized context.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D17730-8EB2-442F-9783-DED4038CC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767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B7F"/>
                </a:solidFill>
              </a:defRPr>
            </a:pPr>
            <a:r>
              <a:rPr sz="1350" b="0">
                <a:solidFill>
                  <a:srgbClr val="5B6B7F"/>
                </a:solidFill>
              </a:rPr>
              <a:t>Authenticated EmpCod is the source of truth.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233FAB-D863-4A78-887F-9903B8229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B7F"/>
                </a:solidFill>
              </a:defRPr>
            </a:pPr>
            <a:r>
              <a:rPr sz="825" b="0">
                <a:solidFill>
                  <a:srgbClr val="5B6B7F"/>
                </a:solidFill>
              </a:rPr>
              <a:t>HM TaskManager  |  Executive overview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10FC01-3C8D-47F1-BDCA-E569B7E1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B6B7F"/>
                </a:solidFill>
              </a:defRPr>
            </a:pPr>
            <a:r>
              <a:rPr sz="825" b="1">
                <a:solidFill>
                  <a:srgbClr val="5B6B7F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215274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3B3873-19CF-41F9-98A9-007604574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F6FEB"/>
                </a:solidFill>
              </a:defRPr>
            </a:pPr>
            <a:r>
              <a:rPr sz="975" b="1">
                <a:solidFill>
                  <a:srgbClr val="1F6FEB"/>
                </a:solidFill>
              </a:rPr>
              <a:t>OPERATIONAL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AE30D8-EDAC-4FBB-8EA1-AD7F19900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43E"/>
                </a:solidFill>
              </a:defRPr>
            </a:pPr>
            <a:r>
              <a:rPr sz="2625" b="1">
                <a:solidFill>
                  <a:srgbClr val="10243E"/>
                </a:solidFill>
              </a:rPr>
              <a:t>Work becomes visible, assignable, and auditable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7C81A9-C1B1-4A34-8F40-F205D4068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B7F"/>
                </a:solidFill>
              </a:defRPr>
            </a:pPr>
            <a:r>
              <a:rPr sz="1350" b="0">
                <a:solidFill>
                  <a:srgbClr val="5B6B7F"/>
                </a:solidFill>
              </a:rPr>
              <a:t>The operating model follows the lifecycle of a real maintenance request.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998c9f6f624423"/>
          <a:stretch xmlns:a="http://schemas.openxmlformats.org/drawingml/2006/main"/>
        </p:blipFill>
        <p:spPr>
          <a:xfrm xmlns:a="http://schemas.openxmlformats.org/drawingml/2006/main">
            <a:off x="685800" y="2177653"/>
            <a:ext cx="5143500" cy="3264694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8224dcc56e4617"/>
          <a:stretch xmlns:a="http://schemas.openxmlformats.org/drawingml/2006/main"/>
        </p:blipFill>
        <p:spPr>
          <a:xfrm xmlns:a="http://schemas.openxmlformats.org/drawingml/2006/main">
            <a:off x="6286500" y="2153470"/>
            <a:ext cx="5219700" cy="331306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1625D9-207D-4603-9FD6-3E026E293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B7F"/>
                </a:solidFill>
              </a:defRPr>
            </a:pPr>
            <a:r>
              <a:rPr sz="1350" b="0">
                <a:solidFill>
                  <a:srgbClr val="5B6B7F"/>
                </a:solidFill>
              </a:rPr>
              <a:t>Work Orders → Work Board → completion history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3B5D98-0EB2-4D1B-B483-42483EED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B7F"/>
                </a:solidFill>
              </a:defRPr>
            </a:pPr>
            <a:r>
              <a:rPr sz="825" b="0">
                <a:solidFill>
                  <a:srgbClr val="5B6B7F"/>
                </a:solidFill>
              </a:rPr>
              <a:t>HM TaskManager  |  Executive overview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B11DB9-B9AB-4957-956C-DD4566DE1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B6B7F"/>
                </a:solidFill>
              </a:defRPr>
            </a:pPr>
            <a:r>
              <a:rPr sz="825" b="1">
                <a:solidFill>
                  <a:srgbClr val="5B6B7F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308379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4472ED-9A58-4A1D-8CF2-DF4751C3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F6FEB"/>
                </a:solidFill>
              </a:defRPr>
            </a:pPr>
            <a:r>
              <a:rPr sz="975" b="1">
                <a:solidFill>
                  <a:srgbClr val="1F6FEB"/>
                </a:solidFill>
              </a:rPr>
              <a:t>MANAGEMENT INTELLIGENCE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1102C4-FD09-472B-9607-D6655B30C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43E"/>
                </a:solidFill>
              </a:defRPr>
            </a:pPr>
            <a:r>
              <a:rPr sz="2625" b="1">
                <a:solidFill>
                  <a:srgbClr val="10243E"/>
                </a:solidFill>
              </a:rPr>
              <a:t>The dashboard turns activity into a management conversation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B91B8C-A103-4805-BBE4-E82C35652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B7F"/>
                </a:solidFill>
              </a:defRPr>
            </a:pPr>
            <a:r>
              <a:rPr sz="1350" b="0">
                <a:solidFill>
                  <a:srgbClr val="5B6B7F"/>
                </a:solidFill>
              </a:rPr>
              <a:t>Leaders see the health of the operation without opening every work order.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c1d2f41c284c98"/>
          <a:stretch xmlns:a="http://schemas.openxmlformats.org/drawingml/2006/main"/>
        </p:blipFill>
        <p:spPr>
          <a:xfrm xmlns:a="http://schemas.openxmlformats.org/drawingml/2006/main">
            <a:off x="2888624" y="1762125"/>
            <a:ext cx="2833352" cy="4191000"/>
          </a:xfrm>
          <a:prstGeom xmlns:a="http://schemas.openxmlformats.org/drawingml/2006/main" prst="roundRect">
            <a:avLst>
              <a:gd name="adj" fmla="val 2727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F8F98D-B932-4845-A468-189882E31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05000"/>
            <a:ext cx="3143250" cy="3667125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9525">
            <a:solidFill>
              <a:srgbClr val="10243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17D1D1-8AC9-4CBA-A59B-7895C4B4A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238375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Questions leadership can answer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D325E4-744B-44E9-A236-57D1AA36E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048000"/>
            <a:ext cx="2476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9E7FA"/>
                </a:solidFill>
              </a:defRPr>
            </a:pPr>
            <a:r>
              <a:rPr sz="1350" b="0">
                <a:solidFill>
                  <a:srgbClr val="D9E7FA"/>
                </a:solidFill>
              </a:rPr>
              <a:t>• What is open now?</a:t>
            </a:r>
          </a:p>
          <a:p xmlns:a="http://schemas.openxmlformats.org/drawingml/2006/main">
            <a:pPr>
              <a:defRPr sz="1350" b="0">
                <a:solidFill>
                  <a:srgbClr val="D9E7FA"/>
                </a:solidFill>
              </a:defRPr>
            </a:pPr>
            <a:r>
              <a:rPr sz="1350" b="0">
                <a:solidFill>
                  <a:srgbClr val="D9E7FA"/>
                </a:solidFill>
              </a:rPr>
              <a:t>• Where is work accumulating?</a:t>
            </a:r>
          </a:p>
          <a:p xmlns:a="http://schemas.openxmlformats.org/drawingml/2006/main">
            <a:pPr>
              <a:defRPr sz="1350" b="0">
                <a:solidFill>
                  <a:srgbClr val="D9E7FA"/>
                </a:solidFill>
              </a:defRPr>
            </a:pPr>
            <a:r>
              <a:rPr sz="1350" b="0">
                <a:solidFill>
                  <a:srgbClr val="D9E7FA"/>
                </a:solidFill>
              </a:rPr>
              <a:t>• Which assets drive repeat attention?</a:t>
            </a:r>
          </a:p>
          <a:p xmlns:a="http://schemas.openxmlformats.org/drawingml/2006/main">
            <a:pPr>
              <a:defRPr sz="1350" b="0">
                <a:solidFill>
                  <a:srgbClr val="D9E7FA"/>
                </a:solidFill>
              </a:defRPr>
            </a:pPr>
            <a:r>
              <a:rPr sz="1350" b="0">
                <a:solidFill>
                  <a:srgbClr val="D9E7FA"/>
                </a:solidFill>
              </a:rPr>
              <a:t>• Are teams completing work on time?</a:t>
            </a:r>
          </a:p>
          <a:p xmlns:a="http://schemas.openxmlformats.org/drawingml/2006/main">
            <a:pPr>
              <a:defRPr sz="1350" b="0">
                <a:solidFill>
                  <a:srgbClr val="D9E7FA"/>
                </a:solidFill>
              </a:defRPr>
            </a:pPr>
            <a:r>
              <a:rPr sz="1350" b="0">
                <a:solidFill>
                  <a:srgbClr val="D9E7FA"/>
                </a:solidFill>
              </a:rPr>
              <a:t>• Which hotel needs support?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4F3ED5-9F5A-4FCC-AD13-A3F75F188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B7F"/>
                </a:solidFill>
              </a:defRPr>
            </a:pPr>
            <a:r>
              <a:rPr sz="825" b="0">
                <a:solidFill>
                  <a:srgbClr val="5B6B7F"/>
                </a:solidFill>
              </a:rPr>
              <a:t>HM TaskManager  |  Executive overview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293A1E-BA60-497C-91A4-36038F02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B6B7F"/>
                </a:solidFill>
              </a:defRPr>
            </a:pPr>
            <a:r>
              <a:rPr sz="825" b="1">
                <a:solidFill>
                  <a:srgbClr val="5B6B7F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993759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00A381-153D-4623-A67C-A7E3398E9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F6FEB"/>
                </a:solidFill>
              </a:defRPr>
            </a:pPr>
            <a:r>
              <a:rPr sz="975" b="1">
                <a:solidFill>
                  <a:srgbClr val="1F6FEB"/>
                </a:solidFill>
              </a:rPr>
              <a:t>MASTER DATA THAT MAKES WORK ACTIONABLE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8CE533-1FEC-4361-831F-7E08C1B25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43E"/>
                </a:solidFill>
              </a:defRPr>
            </a:pPr>
            <a:r>
              <a:rPr sz="2625" b="1">
                <a:solidFill>
                  <a:srgbClr val="10243E"/>
                </a:solidFill>
              </a:rPr>
              <a:t>Locations, categories, and assets give every work order 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09A579-E905-4F49-B57F-C01443D5B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B7F"/>
                </a:solidFill>
              </a:defRPr>
            </a:pPr>
            <a:r>
              <a:rPr sz="1350" b="0">
                <a:solidFill>
                  <a:srgbClr val="5B6B7F"/>
                </a:solidFill>
              </a:rPr>
              <a:t>The maintenance model is deliberately simple: define the place, the type of work, and the thing being maintained.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cc175e45cc4240"/>
          <a:stretch xmlns:a="http://schemas.openxmlformats.org/drawingml/2006/main"/>
        </p:blipFill>
        <p:spPr>
          <a:xfrm xmlns:a="http://schemas.openxmlformats.org/drawingml/2006/main">
            <a:off x="685800" y="2483644"/>
            <a:ext cx="3429000" cy="2176463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d0d2db274d4173"/>
          <a:stretch xmlns:a="http://schemas.openxmlformats.org/drawingml/2006/main"/>
        </p:blipFill>
        <p:spPr>
          <a:xfrm xmlns:a="http://schemas.openxmlformats.org/drawingml/2006/main">
            <a:off x="4381500" y="2483644"/>
            <a:ext cx="3429000" cy="2176463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9ae73ba9db4cae"/>
          <a:stretch xmlns:a="http://schemas.openxmlformats.org/drawingml/2006/main"/>
        </p:blipFill>
        <p:spPr>
          <a:xfrm xmlns:a="http://schemas.openxmlformats.org/drawingml/2006/main">
            <a:off x="8077200" y="2483644"/>
            <a:ext cx="3429000" cy="2176463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589697-5D84-4F31-9A5B-5BF764E4B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B7F"/>
                </a:solidFill>
              </a:defRPr>
            </a:pPr>
            <a:r>
              <a:rPr sz="1350" b="0">
                <a:solidFill>
                  <a:srgbClr val="5B6B7F"/>
                </a:solidFill>
              </a:rPr>
              <a:t>Real screens from the HM test hotel: categories, assets, and locations are linked to the same operating context.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6702BD-81B0-4796-B25A-6EB2797B5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B7F"/>
                </a:solidFill>
              </a:defRPr>
            </a:pPr>
            <a:r>
              <a:rPr sz="825" b="0">
                <a:solidFill>
                  <a:srgbClr val="5B6B7F"/>
                </a:solidFill>
              </a:rPr>
              <a:t>HM TaskManager  |  Executive overview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1B8BFA-4C7C-4E73-9AD0-7FE7B2E9A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B6B7F"/>
                </a:solidFill>
              </a:defRPr>
            </a:pPr>
            <a:r>
              <a:rPr sz="825" b="1">
                <a:solidFill>
                  <a:srgbClr val="5B6B7F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302861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24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0BB565-7002-4107-892A-67B6CA01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F6FEB"/>
                </a:solidFill>
              </a:defRPr>
            </a:pPr>
            <a:r>
              <a:rPr sz="975" b="1">
                <a:solidFill>
                  <a:srgbClr val="1F6FEB"/>
                </a:solidFill>
              </a:rPr>
              <a:t>EXECUTIVE 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DBD840-C81A-4667-B51F-07498C1FC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43E"/>
                </a:solidFill>
              </a:defRPr>
            </a:pPr>
            <a:r>
              <a:rPr sz="2625" b="1">
                <a:solidFill>
                  <a:srgbClr val="10243E"/>
                </a:solidFill>
              </a:rPr>
              <a:t>HM TaskManager is a practical operating layer for hotel maintenance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3A0874-D961-4564-9D1D-C788B0F84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B7F"/>
                </a:solidFill>
              </a:defRPr>
            </a:pPr>
            <a:r>
              <a:rPr sz="1350" b="0">
                <a:solidFill>
                  <a:srgbClr val="5B6B7F"/>
                </a:solidFill>
              </a:rPr>
              <a:t>It preserves company security while giving teams a modern, measurable workflow.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DB643E-92A1-4965-AB5F-3D84DD54A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EC5FF"/>
                </a:solidFill>
              </a:defRPr>
            </a:pPr>
            <a:r>
              <a:rPr sz="1200" b="1">
                <a:solidFill>
                  <a:srgbClr val="9EC5FF"/>
                </a:solidFill>
              </a:rPr>
              <a:t>For leadership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704070-C29E-48C7-81F2-6EF89B469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Standardize the operating model across hotels without losing local accountability.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D4F802-1E24-4038-9FAC-B269DC4C3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431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EC5FF"/>
                </a:solidFill>
              </a:defRPr>
            </a:pPr>
            <a:r>
              <a:rPr sz="1200" b="1">
                <a:solidFill>
                  <a:srgbClr val="9EC5FF"/>
                </a:solidFill>
              </a:rPr>
              <a:t>For operations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13DE18-E830-4213-9D9A-11FB4A820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7650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Make every request visible, owned, and traceable from intake to completion.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B8235C-F1FC-4522-A863-804603F94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EC5FF"/>
                </a:solidFill>
              </a:defRPr>
            </a:pPr>
            <a:r>
              <a:rPr sz="1200" b="1">
                <a:solidFill>
                  <a:srgbClr val="9EC5FF"/>
                </a:solidFill>
              </a:rPr>
              <a:t>For IT &amp; governance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69D2E7-F4CD-4767-831F-6B5B8DEA4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33875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Keep authorization anchored to the authenticated company and existing security assignments.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DDD1A9-6F61-43AE-B5F3-1FD9C8DE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EC5FF"/>
                </a:solidFill>
              </a:defRPr>
            </a:pPr>
            <a:r>
              <a:rPr sz="1200" b="1">
                <a:solidFill>
                  <a:srgbClr val="9EC5FF"/>
                </a:solidFill>
              </a:rPr>
              <a:t>Next step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2D15D3-D8DB-448D-810E-1C4DF03C5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33875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Validate with one hotel, confirm operating KPIs, then scale by repeatable configuration.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900630-9AEB-4FA2-A36B-5C34BAA4F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FD5F1"/>
                </a:solidFill>
              </a:defRPr>
            </a:pPr>
            <a:r>
              <a:rPr sz="900" b="0">
                <a:solidFill>
                  <a:srgbClr val="BFD5F1"/>
                </a:solidFill>
              </a:rPr>
              <a:t>HM TaskManager  |  Executive briefing</a:t>
            </a:r>
          </a:p>
        </p:txBody>
      </p:sp>
    </p:spTree>
    <p:extLst>
      <p:ext uri="{BB962C8B-B14F-4D97-AF65-F5344CB8AC3E}">
        <p14:creationId xmlns:p14="http://schemas.microsoft.com/office/powerpoint/2010/main" val="17228837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2026-08-19T07:54:12.3970000Z</dcterms:created>
  <dcterms:modified xsi:type="dcterms:W3CDTF">2026-08-19T07:54:12.3970000Z</dcterms:modified>
</coreProperties>
</file>